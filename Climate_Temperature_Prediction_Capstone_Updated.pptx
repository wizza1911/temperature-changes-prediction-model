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Global Average Temperature Change Over Time (1961-2019)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Temperature Change</c:v>
                </c:pt>
              </c:strCache>
            </c:strRef>
          </c:tx>
          <c:spPr>
            <a:solidFill>
              <a:srgbClr val="3D6B4B"/>
            </a:solidFill>
            <a:ln w="25400" cap="flat">
              <a:solidFill>
                <a:srgbClr val="3D6B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6B4B"/>
              </a:solidFill>
              <a:ln w="9525" cap="flat">
                <a:solidFill>
                  <a:srgbClr val="3D6B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1961</c:v>
                  </c:pt>
                  <c:pt idx="1">
                    <c:v>1970</c:v>
                  </c:pt>
                  <c:pt idx="2">
                    <c:v>1980</c:v>
                  </c:pt>
                  <c:pt idx="3">
                    <c:v>1990</c:v>
                  </c:pt>
                  <c:pt idx="4">
                    <c:v>2000</c:v>
                  </c:pt>
                  <c:pt idx="5">
                    <c:v>2010</c:v>
                  </c:pt>
                  <c:pt idx="6">
                    <c:v>2019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-0.05</c:v>
                </c:pt>
                <c:pt idx="2">
                  <c:v>0.2</c:v>
                </c:pt>
                <c:pt idx="3">
                  <c:v>0.35</c:v>
                </c:pt>
                <c:pt idx="4">
                  <c:v>0.65</c:v>
                </c:pt>
                <c:pt idx="5">
                  <c:v>1</c:v>
                </c:pt>
                <c:pt idx="6">
                  <c:v>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Change</c:v>
                </c:pt>
              </c:strCache>
            </c:strRef>
          </c:tx>
          <c:spPr>
            <a:solidFill>
              <a:srgbClr val="3D6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Mongolia</c:v>
                  </c:pt>
                  <c:pt idx="1">
                    <c:v>Svalbard &amp; Jan Mayen</c:v>
                  </c:pt>
                  <c:pt idx="2">
                    <c:v>Gambia</c:v>
                  </c:pt>
                  <c:pt idx="3">
                    <c:v>Morocco</c:v>
                  </c:pt>
                  <c:pt idx="4">
                    <c:v>Guinea-Bissau</c:v>
                  </c:pt>
                  <c:pt idx="5">
                    <c:v>Tunisia</c:v>
                  </c:pt>
                  <c:pt idx="6">
                    <c:v>Mauritania</c:v>
                  </c:pt>
                  <c:pt idx="7">
                    <c:v>Eastern Europe</c:v>
                  </c:pt>
                  <c:pt idx="8">
                    <c:v>Cabo Verde</c:v>
                  </c:pt>
                  <c:pt idx="9">
                    <c:v>Austria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0.87</c:v>
                </c:pt>
                <c:pt idx="1">
                  <c:v>0.86</c:v>
                </c:pt>
                <c:pt idx="2">
                  <c:v>0.83</c:v>
                </c:pt>
                <c:pt idx="3">
                  <c:v>0.81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0.76</c:v>
                </c:pt>
                <c:pt idx="8">
                  <c:v>0.75</c:v>
                </c:pt>
                <c:pt idx="9">
                  <c:v>0.74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Temp Change</c:v>
                </c:pt>
              </c:strCache>
            </c:strRef>
          </c:tx>
          <c:spPr>
            <a:solidFill>
              <a:srgbClr val="B24A46"/>
            </a:solidFill>
            <a:ln w="25400" cap="flat">
              <a:solidFill>
                <a:srgbClr val="B24A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24A46"/>
              </a:solidFill>
              <a:ln w="9525" cap="flat">
                <a:solidFill>
                  <a:srgbClr val="B24A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0.43</c:v>
                </c:pt>
                <c:pt idx="1">
                  <c:v>0.45</c:v>
                </c:pt>
                <c:pt idx="2">
                  <c:v>0.48</c:v>
                </c:pt>
                <c:pt idx="3">
                  <c:v>0.49</c:v>
                </c:pt>
                <c:pt idx="4">
                  <c:v>0.47</c:v>
                </c:pt>
                <c:pt idx="5">
                  <c:v>0.47</c:v>
                </c:pt>
                <c:pt idx="6">
                  <c:v>0.49</c:v>
                </c:pt>
                <c:pt idx="7">
                  <c:v>0.49</c:v>
                </c:pt>
                <c:pt idx="8">
                  <c:v>0.43</c:v>
                </c:pt>
                <c:pt idx="9">
                  <c:v>0.42</c:v>
                </c:pt>
                <c:pt idx="10">
                  <c:v>0.4</c:v>
                </c:pt>
                <c:pt idx="11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Afghanistan</c:v>
                </c:pt>
              </c:strCache>
            </c:strRef>
          </c:tx>
          <c:spPr>
            <a:solidFill>
              <a:srgbClr val="3D6B4B"/>
            </a:solidFill>
            <a:ln w="22225" cap="flat">
              <a:solidFill>
                <a:srgbClr val="3D6B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6B4B"/>
              </a:solidFill>
              <a:ln w="9525" cap="flat">
                <a:solidFill>
                  <a:srgbClr val="3D6B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1960</c:v>
                  </c:pt>
                  <c:pt idx="1">
                    <c:v>1975</c:v>
                  </c:pt>
                  <c:pt idx="2">
                    <c:v>1990</c:v>
                  </c:pt>
                  <c:pt idx="3">
                    <c:v>2005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-0.3</c:v>
                </c:pt>
                <c:pt idx="2">
                  <c:v>0.6</c:v>
                </c:pt>
                <c:pt idx="3">
                  <c:v>1</c:v>
                </c:pt>
                <c:pt idx="4">
                  <c:v>1.6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Australia</c:v>
                </c:pt>
              </c:strCache>
            </c:strRef>
          </c:tx>
          <c:spPr>
            <a:solidFill>
              <a:srgbClr val="8AA98F"/>
            </a:solidFill>
            <a:ln w="22225" cap="flat">
              <a:solidFill>
                <a:srgbClr val="8AA9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A98F"/>
              </a:solidFill>
              <a:ln w="9525" cap="flat">
                <a:solidFill>
                  <a:srgbClr val="8AA9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1960</c:v>
                  </c:pt>
                  <c:pt idx="1">
                    <c:v>1975</c:v>
                  </c:pt>
                  <c:pt idx="2">
                    <c:v>1990</c:v>
                  </c:pt>
                  <c:pt idx="3">
                    <c:v>2005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0.2</c:v>
                </c:pt>
                <c:pt idx="2">
                  <c:v>0.5</c:v>
                </c:pt>
                <c:pt idx="3">
                  <c:v>0.8</c:v>
                </c:pt>
                <c:pt idx="4">
                  <c:v>1.3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rgbClr val="C7B98A"/>
            </a:solidFill>
            <a:ln w="22225" cap="flat">
              <a:solidFill>
                <a:srgbClr val="C7B9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B98A"/>
              </a:solidFill>
              <a:ln w="9525" cap="flat">
                <a:solidFill>
                  <a:srgbClr val="C7B9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1960</c:v>
                  </c:pt>
                  <c:pt idx="1">
                    <c:v>1975</c:v>
                  </c:pt>
                  <c:pt idx="2">
                    <c:v>1990</c:v>
                  </c:pt>
                  <c:pt idx="3">
                    <c:v>2005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</c:v>
                </c:pt>
                <c:pt idx="1">
                  <c:v>0.1</c:v>
                </c:pt>
                <c:pt idx="2">
                  <c:v>0.4</c:v>
                </c:pt>
                <c:pt idx="3">
                  <c:v>0.7</c:v>
                </c:pt>
                <c:pt idx="4">
                  <c:v>1.1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rgbClr val="B24A46"/>
            </a:solidFill>
            <a:ln w="22225" cap="flat">
              <a:solidFill>
                <a:srgbClr val="B24A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24A46"/>
              </a:solidFill>
              <a:ln w="9525" cap="flat">
                <a:solidFill>
                  <a:srgbClr val="B24A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1960</c:v>
                  </c:pt>
                  <c:pt idx="1">
                    <c:v>1975</c:v>
                  </c:pt>
                  <c:pt idx="2">
                    <c:v>1990</c:v>
                  </c:pt>
                  <c:pt idx="3">
                    <c:v>2005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</c:v>
                </c:pt>
                <c:pt idx="1">
                  <c:v>0.4</c:v>
                </c:pt>
                <c:pt idx="2">
                  <c:v>0.9</c:v>
                </c:pt>
                <c:pt idx="3">
                  <c:v>1.4</c:v>
                </c:pt>
                <c:pt idx="4">
                  <c:v>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Egypt</c:v>
                </c:pt>
              </c:strCache>
            </c:strRef>
          </c:tx>
          <c:spPr>
            <a:solidFill>
              <a:srgbClr val="5B7FA6"/>
            </a:solidFill>
            <a:ln w="22225" cap="flat">
              <a:solidFill>
                <a:srgbClr val="5B7F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FA6"/>
              </a:solidFill>
              <a:ln w="9525" cap="flat">
                <a:solidFill>
                  <a:srgbClr val="5B7F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1960</c:v>
                  </c:pt>
                  <c:pt idx="1">
                    <c:v>1975</c:v>
                  </c:pt>
                  <c:pt idx="2">
                    <c:v>1990</c:v>
                  </c:pt>
                  <c:pt idx="3">
                    <c:v>2005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series</c:v>
                </c:pt>
              </c:strCache>
            </c:strRef>
          </c:tx>
          <c:spPr>
            <a:solidFill>
              <a:srgbClr val="3D6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0.01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15.5</c:v>
                </c:pt>
                <c:pt idx="1">
                  <c:v>10.8</c:v>
                </c:pt>
                <c:pt idx="2">
                  <c:v>12.1</c:v>
                </c:pt>
                <c:pt idx="3">
                  <c:v>11.4</c:v>
                </c:pt>
                <c:pt idx="4">
                  <c:v>7.7</c:v>
                </c:pt>
                <c:pt idx="5">
                  <c:v>7</c:v>
                </c:pt>
                <c:pt idx="6">
                  <c:v>35.4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 I  ·  M A C H I N E   L E A R N I N 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Climate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Change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capstone using FAO global temperature records and Prophet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Mohamed, Moataz, Abdelrahman, Eyad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 ·  Nancy Ahmed, Abdelrahman Bakeer, NTI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forecasting local temperature change matters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1012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72968" y="201168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8" name="Text 6"/>
          <p:cNvSpPr/>
          <p:nvPr/>
        </p:nvSpPr>
        <p:spPr>
          <a:xfrm>
            <a:off x="317296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warming is uneven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2852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countries and regions warm far faster than the global average — planning needs local, not just global, numbers.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331012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39128" y="201168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25146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Decision-makers need forecasts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343400" y="3200400"/>
            <a:ext cx="2852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water resources, and urban planning all depend on knowing what temperature change to expect in the coming years.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1828800"/>
            <a:ext cx="331012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05288" y="201168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20" name="Text 18"/>
          <p:cNvSpPr/>
          <p:nvPr/>
        </p:nvSpPr>
        <p:spPr>
          <a:xfrm>
            <a:off x="103052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09560" y="25146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enables action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909560" y="3200400"/>
            <a:ext cx="2852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prediction for a given country and time period lets policymakers prioritize mitigation: green cover, irrigation, emissions cuts.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0442448" cy="1051560"/>
          </a:xfrm>
          <a:prstGeom prst="roundRect">
            <a:avLst>
              <a:gd name="adj" fmla="val 7826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892040"/>
            <a:ext cx="9893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  </a:t>
            </a:r>
            <a:pPr indent="0" marL="0">
              <a:buNone/>
            </a:pPr>
            <a:r>
              <a:rPr lang="en-US" sz="1400" i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expected temperature change for any country and time period, using 59 years of historical climate data.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FAOSTAT-derived environment temperature change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47672"/>
            <a:ext cx="2057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236,840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947672"/>
            <a:ext cx="2057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450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 REGIONS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947672"/>
            <a:ext cx="2057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72200" y="2450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(1961–2019)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41080" y="1783080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947672"/>
            <a:ext cx="2057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2450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SEASON LABELS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0378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37947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region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4114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or seasonal aggregate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44348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 – 2019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Standard_Deviation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47548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variability (baseline 1951–1980)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074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Temperature_Change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50749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(°C), deviation from baseline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3492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 — dataset was already cleaned prior to analysis.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only areas with complete histories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101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47672"/>
            <a:ext cx="2852928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COMPLETE AREAS / REGIONS RETAINED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33101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47672"/>
            <a:ext cx="2852928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43400" y="25420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SEASON LABELS PER AREA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80960" y="1783080"/>
            <a:ext cx="33101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1947672"/>
            <a:ext cx="2852928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3,162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09560" y="25420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INDEPENDENT TIME SERIES READY FOR TRAINING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0749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some areas were dropped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fits one independent model per (Area, Month/Season) series. Any area with gaps in its 1961–2019 yearly record was dropped entirely, rather than imputed — filling gaps risks injecting an artificial trend or seasonal pattern into a real climate signal.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areas with a fully complete 59-year history, across all 17 month/season labels, were kept for modeling.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333756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→ After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08076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countries &amp; regions in the source dataset
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760" y="4572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retained after dropping incomplete records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(~59 areas removed for gap years)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has been warming steadily since the 1960s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01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286000"/>
          <a:ext cx="4800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83080"/>
            <a:ext cx="4709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22860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temperature change climbs from near-zero in the 1960s to almost +1.4°C by 2019.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3931920"/>
            <a:ext cx="47091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02  ·  Distribution of Temperature Change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0" y="4480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bell-shaped, centered near +0.5 to +1°C, with a long right tail — some records swing above +3°C.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Warming is uneven across places — and across months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03  ·  Top 10 Areas with Highest Average Temperature Change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331720"/>
          <a:ext cx="4846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83080"/>
            <a:ext cx="4709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04  ·  Avg Temperature Change by Month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331720"/>
          <a:ext cx="42062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35040" y="4251960"/>
            <a:ext cx="4709160" cy="1691640"/>
          </a:xfrm>
          <a:prstGeom prst="roundRect">
            <a:avLst>
              <a:gd name="adj" fmla="val 4865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09360" y="44348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exists, but it's a much smaller effect than the long-term trend — a signal Prophet's changepoint model is built to separate from noise.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checks and country-level trajectories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05  ·  Year vs. Temperature Change Correlation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(r) = 0.451
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(ρ) = 0.529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(linear) and Spearman (monotonic) correlations agree: Year correlates positively with Temperature_Change — a real warming trend, not noise.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4709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06  ·  Temperature Change Over Time (Selected Countries)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2377440"/>
          <a:ext cx="42062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035040" y="4709160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4846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Canada, Brazil, Australia and Afghanistan all trend upward, but at different paces and volatility — exactly why Prophet fits an independent model per country / time-period series.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time-series model?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749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48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Time-Ordered Data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standard machine learning where rows are independent, time-series data is bound by chronological order — the past influences the future.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074920" cy="1874520"/>
          </a:xfrm>
          <a:prstGeom prst="roundRect">
            <a:avLst>
              <a:gd name="adj" fmla="val 439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E3DFC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 ML Struggles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train/test splitting leaks future data into the past. Time series requires strict chronological splitting and models built to handle sequential momentum.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194560"/>
            <a:ext cx="5669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23225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2651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progression — e.g. steady temperature rise over decades.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3364992"/>
            <a:ext cx="5669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3493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38221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short-term patterns — e.g. seasonal temperature shifts.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4535424"/>
            <a:ext cx="5669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4791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0840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49926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Unpredictable, random year-to-year variation.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records to 3,162 forecastable series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as time series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12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(Area, Month/Season) pair becomes its own series with ds = Year, y = Temperature_Change — Prophet's required format.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178308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9856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19856" y="2377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chronologically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19856" y="3154680"/>
            <a:ext cx="212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years form the training window; later years are held out for validation — respecting time order, unlike a random split.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25312" y="178308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08192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08192" y="2377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Grid-search per series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08192" y="3154680"/>
            <a:ext cx="212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3,162 series is tuned independently over changepoint_prior_scale × changepoint_range (14 combinations).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13648" y="178308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96528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96528" y="23774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best config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796528" y="3154680"/>
            <a:ext cx="212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with the lowest validation error is stored per series in the parameter registry used for forecasting.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0552176" cy="960120"/>
          </a:xfrm>
          <a:prstGeom prst="roundRect">
            <a:avLst>
              <a:gd name="adj" fmla="val 8571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074920"/>
            <a:ext cx="10003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= Year (as date)   ·   y = Temperature_Change (°C)   ·   186 areas × 17 month/season labels = 3,162 independent series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Prophet works, in simple terms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303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39112"/>
            <a:ext cx="41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Framing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681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treats forecasting as a curve-fitting task, breaking a series down into easy-to-understand parts: Trend + Seasonality + Error.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52303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039112"/>
            <a:ext cx="41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Changepoints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4681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rigid straight line, it automatically finds where and when historical trends shifted velocity — e.g. speeding-up warming phases.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OUR CLIMATE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310128" cy="1371600"/>
          </a:xfrm>
          <a:prstGeom prst="roundRect">
            <a:avLst>
              <a:gd name="adj" fmla="val 600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41605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histories, no overfit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5262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short series (~59 points each) robustly without overfitting.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4023360"/>
            <a:ext cx="3310128" cy="1371600"/>
          </a:xfrm>
          <a:prstGeom prst="roundRect">
            <a:avLst>
              <a:gd name="adj" fmla="val 600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15968" y="41605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out noise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5968" y="45262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Laplace priors ignore random noise and focus on genuine climate signal.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4023360"/>
            <a:ext cx="3310128" cy="1371600"/>
          </a:xfrm>
          <a:prstGeom prst="roundRect">
            <a:avLst>
              <a:gd name="adj" fmla="val 600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82128" y="41605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simple knobs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82128" y="45262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changepoint_prior_scale and changepoint_range give interpretable control.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2C4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Prophet: a decomposable time-series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10128" cy="2331720"/>
          </a:xfrm>
          <a:prstGeom prst="roundRect">
            <a:avLst>
              <a:gd name="adj" fmla="val 3529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changing trends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fits piecewise-linear trend changepoints automatically — well suited to a climate signal that isn't rising at a constant rate.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3310128" cy="2331720"/>
          </a:xfrm>
          <a:prstGeom prst="roundRect">
            <a:avLst>
              <a:gd name="adj" fmla="val 3529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6060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decomposition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30632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split cleanly into trend + seasonality components, easier to explain to non-technical stakeholders than a black-box regressor.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1783080"/>
            <a:ext cx="3310128" cy="2331720"/>
          </a:xfrm>
          <a:prstGeom prst="roundRect">
            <a:avLst>
              <a:gd name="adj" fmla="val 3529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6060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Few, interpretable knobs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09560" y="30632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two hyperparameters — changepoint_prior_scale and changepoint_range — control flexibility, making per-series tuning tractable at scale.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442448" cy="1691640"/>
          </a:xfrm>
          <a:prstGeom prst="roundRect">
            <a:avLst>
              <a:gd name="adj" fmla="val 4865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GRID  ·  SEARCHED PER SERIES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9893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changepoint_prior_scale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7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{ 0.01, 0.05, 0.1, 0.3, 0.4, 0.5, 0.6 }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changepoint_range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7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{ 0.85, 0.9 }   →  14 combinations tested per series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Prophet over the other models covered in the course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378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91272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18904" y="205740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natively for time-ordered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2560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91272" y="2560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18904" y="25603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017520"/>
            <a:ext cx="9921240" cy="0"/>
          </a:xfrm>
          <a:prstGeom prst="line">
            <a:avLst/>
          </a:prstGeom>
          <a:noFill/>
          <a:ln w="12700">
            <a:solidFill>
              <a:srgbClr val="E7E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trend-changepoint detection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91272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18904" y="30632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9921240" cy="0"/>
          </a:xfrm>
          <a:prstGeom prst="line">
            <a:avLst/>
          </a:prstGeom>
          <a:noFill/>
          <a:ln w="12700">
            <a:solidFill>
              <a:srgbClr val="E7E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trend / seasonality decomposition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3640" y="3566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91272" y="3566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18904" y="35661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023360"/>
            <a:ext cx="9921240" cy="0"/>
          </a:xfrm>
          <a:prstGeom prst="line">
            <a:avLst/>
          </a:prstGeom>
          <a:noFill/>
          <a:ln w="12700">
            <a:solidFill>
              <a:srgbClr val="E7E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output on short (~59-point) series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40690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91272" y="40690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18904" y="40690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526280"/>
            <a:ext cx="9921240" cy="0"/>
          </a:xfrm>
          <a:prstGeom prst="line">
            <a:avLst/>
          </a:prstGeom>
          <a:noFill/>
          <a:ln w="12700">
            <a:solidFill>
              <a:srgbClr val="E7E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interpretable hyperparameters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3640" y="4572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91272" y="4572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18904" y="45720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0378440" cy="822960"/>
          </a:xfrm>
          <a:prstGeom prst="roundRect">
            <a:avLst>
              <a:gd name="adj" fmla="val 1000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5440680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is the only option built for time-ordered data and tractable at 3,162 independent series — which is why it was chosen as the final model.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performance across all 3,162 series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101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0.58°C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0.47°C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783080"/>
            <a:ext cx="33101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96596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0.7016°C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43400" y="256032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RMSE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28803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 the same units as °C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783080"/>
            <a:ext cx="33101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09560" y="196596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Seasonality: OFF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909560" y="256032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seasonality disabled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28803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features to explain large swings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10442448" cy="2743200"/>
          </a:xfrm>
          <a:prstGeom prst="roundRect">
            <a:avLst>
              <a:gd name="adj" fmla="val 3000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MAE / RMSE INSTEAD OF R²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98938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measures error against the variance of a mean baseline — a fair yardstick for large, independent samples. Here, each of the 3,162 series has only ~59 sequential points and is fit independently, so R² is an unreliable, often misleading, signal on data this short and this ordered.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RMSE measure forecast error directly in °C, which is what actually matters for planning use — so we standardized on those instead.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tuning, the 14-combination grid search per series wasn't just picking the lowest MAE or RMSE in isolation: it favored configurations that kept MAE and RMSE close together, minimizing the gap between them so the model wasn't just accurate on average but also consistent, without occasional large misses.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grid search chose, most often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0350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changepoint_prior_scale  ·  % OF 3,162 SERIES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33172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66560" y="1783080"/>
            <a:ext cx="4160520" cy="4206240"/>
          </a:xfrm>
          <a:prstGeom prst="roundRect">
            <a:avLst>
              <a:gd name="adj" fmla="val 1978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408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40880" y="27157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single most-picked changepoint_prior_scale (35% of series) — many real climate series need a flexible trend to fit historical shifts well.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4088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040880" y="39044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more common changepoint_range (51% vs. 49%) — validation slightly favors letting changepoints occur later in the series.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40880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040880" y="5093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were tested per series, independently, to avoid a one-size-fits-all setting across very different climates.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2C4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sample forecast from the trained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year  ·  forecast: 2030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+1.79°C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change vs. 1951–1980 baseline  ·  80% interval +1.29°C to +2.28°C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800600"/>
            <a:ext cx="4480560" cy="0"/>
          </a:xfrm>
          <a:prstGeom prst="line">
            <a:avLst/>
          </a:prstGeom>
          <a:noFill/>
          <a:ln w="12700">
            <a:solidFill>
              <a:srgbClr val="E7E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actual 2015–2019 average:  </a:t>
            </a:r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+1.17°C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3492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Prophet, tuned with changepoint_prior_scale = 0.4, changepoint_range = 0.9 (this series' best validated configuration).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194560"/>
            <a:ext cx="5669280" cy="1078992"/>
          </a:xfrm>
          <a:prstGeom prst="roundRect">
            <a:avLst>
              <a:gd name="adj" fmla="val 7627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487168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359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green areas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12280" y="26700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urban tree canopy and green belts to lower local heat build-up and improve air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429000"/>
            <a:ext cx="5669280" cy="1078992"/>
          </a:xfrm>
          <a:prstGeom prst="roundRect">
            <a:avLst>
              <a:gd name="adj" fmla="val 7627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721608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3593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irrigation efficiency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2280" y="39044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toward drip and precision irrigation to protect crop yields as heat and evaporation rise.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4663440"/>
            <a:ext cx="5669280" cy="1078992"/>
          </a:xfrm>
          <a:prstGeom prst="roundRect">
            <a:avLst>
              <a:gd name="adj" fmla="val 7627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956048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48280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emissions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12280" y="5138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renewable energy adoption and industrial efficiency to curb the drivers of warming.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Streamlit app serving 3,162 pre-trained forecasters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 ·  OFFLINE, ONCE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Build_the_best_then_pickle.py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Refits each series on 100% of 1961–2019 history with its winning changepoint_prior_scale / changepoint_range, in parallel across CPU cores (joblib), then pickles it.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REQUEST-TIME  ·  INSIDE THE 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1207008" cy="2103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9924" y="1984248"/>
            <a:ext cx="411480" cy="41148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4" name="Text 12"/>
          <p:cNvSpPr/>
          <p:nvPr/>
        </p:nvSpPr>
        <p:spPr>
          <a:xfrm>
            <a:off x="624992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2560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25312" y="288036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country &amp; period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78040" y="1783080"/>
            <a:ext cx="1207008" cy="2103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75804" y="1984248"/>
            <a:ext cx="411480" cy="41148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9" name="Text 17"/>
          <p:cNvSpPr/>
          <p:nvPr/>
        </p:nvSpPr>
        <p:spPr>
          <a:xfrm>
            <a:off x="757580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560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51192" y="288036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filename in model_registry_summary.csv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503920" y="1783080"/>
            <a:ext cx="1207008" cy="2103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3D6B4B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01684" y="1984248"/>
            <a:ext cx="411480" cy="41148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24" name="Text 22"/>
          <p:cNvSpPr/>
          <p:nvPr/>
        </p:nvSpPr>
        <p:spPr>
          <a:xfrm>
            <a:off x="890168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2560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77072" y="288036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Unpickle the fitted Prophet model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829800" y="1783080"/>
            <a:ext cx="1207008" cy="2103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27564" y="1984248"/>
            <a:ext cx="411480" cy="41148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29" name="Text 27"/>
          <p:cNvSpPr/>
          <p:nvPr/>
        </p:nvSpPr>
        <p:spPr>
          <a:xfrm>
            <a:off x="1022756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2560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902952" y="288036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°C change + recommendations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1B2B20"/>
          </a:solidFill>
          <a:ln w="12700">
            <a:solidFill>
              <a:srgbClr val="1B2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pickled_models/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Prophet_Egypt_Meteorological_year.pkl</a:t>
            </a:r>
            <a:pPr indent="0" marL="0">
              <a:buNone/>
            </a:pPr>
            <a:r>
              <a:rPr lang="en-US" sz="1100" i="1" dirty="0">
                <a:solidFill>
                  <a:srgbClr val="8FA3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example filename for the series shown on the prediction slide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THE APP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193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Dropdown selection of country and target month / season / year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513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forecast — loads an already-fitted pickle instead of refitting live (models trained ahead of time on full history)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5833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Auto-generated, rule-based recommendations by severity of predicted change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153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+ seasonality breakdown chart alongside the numeric forecast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32520" y="598932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5989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F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Current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82% of series score below a naive mean baseline (R² &lt; 0) — short ~59-point histories limit what any per-series model can learn.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3,162 independent models means no information is shared across similar climates or neighboring countries.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 search only covers 2 hyperparameters; other Prophet settings (seasonality mode, priors) are left at defaults.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Historical-only data (through 2019) — forecasts extrapolate trend forward without newer observations.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178308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0F3EE"/>
          </a:solidFill>
          <a:ln w="12700">
            <a:solidFill>
              <a:srgbClr val="F0F3EE"/>
            </a:solidFill>
            <a:prstDash val="solid"/>
          </a:ln>
          <a:effectLst>
            <a:outerShdw sx="100000" sy="100000" kx="0" ky="0" algn="bl" rotWithShape="0" blurRad="101600" dist="38100" dir="5400000">
              <a:srgbClr val="66666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Future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exogenous regressors to Prophet (CO₂, precipitation, ENSO index) to lift explanatory power.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3429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toward a hierarchical / global model that shares statistical strength across related series.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4343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the hyperparameter search to seasonality mode, prior scales, and holiday effects.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5257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a live version on Streamlit Cloud with auto-refreshing data pulled from FAOSTAT.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2C4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48640" cy="0"/>
          </a:xfrm>
          <a:prstGeom prst="line">
            <a:avLst/>
          </a:prstGeom>
          <a:noFill/>
          <a:ln w="25400">
            <a:solidFill>
              <a:srgbClr val="8FA3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310128" cy="2194560"/>
          </a:xfrm>
          <a:prstGeom prst="roundRect">
            <a:avLst>
              <a:gd name="adj" fmla="val 3750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clean structure, comprehensive README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3017520"/>
            <a:ext cx="3310128" cy="2194560"/>
          </a:xfrm>
          <a:prstGeom prst="roundRect">
            <a:avLst>
              <a:gd name="adj" fmla="val 3750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291840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97764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38912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deployment for live forecast demo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3017520"/>
            <a:ext cx="3310128" cy="2194560"/>
          </a:xfrm>
          <a:prstGeom prst="roundRect">
            <a:avLst>
              <a:gd name="adj" fmla="val 3750"/>
            </a:avLst>
          </a:prstGeom>
          <a:solidFill>
            <a:srgbClr val="23392B"/>
          </a:solidFill>
          <a:ln w="12700">
            <a:solidFill>
              <a:srgbClr val="23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3291840"/>
            <a:ext cx="502920" cy="502920"/>
          </a:xfrm>
          <a:prstGeom prst="ellipse">
            <a:avLst/>
          </a:prstGeom>
          <a:solidFill>
            <a:srgbClr val="E3ECE4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397764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Post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438912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write-up shared for the team's portfolio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8136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2026-07-30T05:31:04Z</dcterms:created>
  <dcterms:modified xsi:type="dcterms:W3CDTF">2026-07-30T05:31:04Z</dcterms:modified>
</cp:coreProperties>
</file>